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Urbanist Medium"/>
      <p:regular r:id="rId15"/>
      <p:bold r:id="rId16"/>
      <p:italic r:id="rId17"/>
      <p:boldItalic r:id="rId18"/>
    </p:embeddedFon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UrbanistMedium-regular.fntdata"/><Relationship Id="rId14" Type="http://schemas.openxmlformats.org/officeDocument/2006/relationships/slide" Target="slides/slide8.xml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SemiBold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e53f2dbde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e53f2dbde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e53f2dbd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e53f2dbd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e53f2dbde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ae53f2dbde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e53f2dbde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ae53f2dbde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e53f2dbde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e53f2dbde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e53f2dbde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ae53f2dbde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e53f2dbde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ae53f2dbde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e53f2dbde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ae53f2dbde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3" name="Google Shape;483;p53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84" name="Google Shape;484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5" name="Google Shape;485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6" name="Google Shape;486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8" name="Google Shape;488;p5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Agile vs. Waterfall: Lessons from the SNHU Travel Project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9" name="Google Shape;489;p53"/>
          <p:cNvSpPr txBox="1"/>
          <p:nvPr>
            <p:ph idx="1" type="subTitle"/>
          </p:nvPr>
        </p:nvSpPr>
        <p:spPr>
          <a:xfrm>
            <a:off x="217375" y="2261475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ChadaTech – CS-250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0" name="Google Shape;490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91" name="Google Shape;491;p5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92" name="Google Shape;492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93" name="Google Shape;493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Shoh Janobilov</a:t>
            </a:r>
            <a:endParaRPr/>
          </a:p>
        </p:txBody>
      </p:sp>
      <p:sp>
        <p:nvSpPr>
          <p:cNvPr id="494" name="Google Shape;494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54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2" name="Google Shape;502;p54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3" name="Google Shape;503;p54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4" name="Google Shape;504;p54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5" name="Google Shape;505;p54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6" name="Google Shape;506;p54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507" name="Google Shape;507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8" name="Google Shape;508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9" name="Google Shape;509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0" name="Google Shape;510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1" name="Google Shape;511;p54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512" name="Google Shape;512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3" name="Google Shape;513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4" name="Google Shape;514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6" name="Google Shape;516;p54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517" name="Google Shape;517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8" name="Google Shape;518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9" name="Google Shape;519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0" name="Google Shape;520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1" name="Google Shape;521;p54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522" name="Google Shape;522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3" name="Google Shape;523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4" name="Google Shape;524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5" name="Google Shape;525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6" name="Google Shape;526;p54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527" name="Google Shape;527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8" name="Google Shape;528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9" name="Google Shape;529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31" name="Google Shape;531;p54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532" name="Google Shape;532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33" name="Google Shape;533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34" name="Google Shape;534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36" name="Google Shape;536;p5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537" name="Google Shape;537;p5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r>
              <a:rPr lang="en"/>
              <a:t> </a:t>
            </a:r>
            <a:endParaRPr/>
          </a:p>
        </p:txBody>
      </p:sp>
      <p:sp>
        <p:nvSpPr>
          <p:cNvPr id="538" name="Google Shape;538;p5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39" name="Google Shape;539;p54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540" name="Google Shape;540;p54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41" name="Google Shape;541;p54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42" name="Google Shape;542;p54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43" name="Google Shape;543;p54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44" name="Google Shape;544;p54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45" name="Google Shape;545;p54"/>
          <p:cNvSpPr txBox="1"/>
          <p:nvPr>
            <p:ph idx="9" type="subTitle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46" name="Google Shape;546;p54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Scrum-Agile Roles</a:t>
            </a:r>
            <a:endParaRPr/>
          </a:p>
        </p:txBody>
      </p:sp>
      <p:sp>
        <p:nvSpPr>
          <p:cNvPr id="547" name="Google Shape;547;p54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Agile SDLC Phases</a:t>
            </a:r>
            <a:endParaRPr/>
          </a:p>
        </p:txBody>
      </p:sp>
      <p:sp>
        <p:nvSpPr>
          <p:cNvPr id="548" name="Google Shape;548;p54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Waterfall Overview</a:t>
            </a:r>
            <a:endParaRPr/>
          </a:p>
        </p:txBody>
      </p:sp>
      <p:sp>
        <p:nvSpPr>
          <p:cNvPr id="549" name="Google Shape;549;p54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Choosing Between Waterfall and Agile</a:t>
            </a:r>
            <a:endParaRPr/>
          </a:p>
        </p:txBody>
      </p:sp>
      <p:sp>
        <p:nvSpPr>
          <p:cNvPr id="550" name="Google Shape;550;p54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51" name="Google Shape;551;p54"/>
          <p:cNvSpPr txBox="1"/>
          <p:nvPr>
            <p:ph idx="18" type="subTitle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Conclusion and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5"/>
          <p:cNvSpPr/>
          <p:nvPr/>
        </p:nvSpPr>
        <p:spPr>
          <a:xfrm>
            <a:off x="2286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7" name="Google Shape;557;p55"/>
          <p:cNvSpPr/>
          <p:nvPr/>
        </p:nvSpPr>
        <p:spPr>
          <a:xfrm>
            <a:off x="24237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8" name="Google Shape;558;p55"/>
          <p:cNvSpPr/>
          <p:nvPr/>
        </p:nvSpPr>
        <p:spPr>
          <a:xfrm>
            <a:off x="46188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9" name="Google Shape;559;p55"/>
          <p:cNvSpPr/>
          <p:nvPr/>
        </p:nvSpPr>
        <p:spPr>
          <a:xfrm>
            <a:off x="68139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0" name="Google Shape;560;p5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61" name="Google Shape;561;p5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62" name="Google Shape;562;p5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63" name="Google Shape;563;p55"/>
          <p:cNvSpPr txBox="1"/>
          <p:nvPr>
            <p:ph idx="5" type="subTitle"/>
          </p:nvPr>
        </p:nvSpPr>
        <p:spPr>
          <a:xfrm>
            <a:off x="398250" y="18479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Owner</a:t>
            </a:r>
            <a:endParaRPr/>
          </a:p>
        </p:txBody>
      </p:sp>
      <p:sp>
        <p:nvSpPr>
          <p:cNvPr id="564" name="Google Shape;564;p55"/>
          <p:cNvSpPr txBox="1"/>
          <p:nvPr>
            <p:ph idx="7" type="body"/>
          </p:nvPr>
        </p:nvSpPr>
        <p:spPr>
          <a:xfrm>
            <a:off x="321025" y="2420800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Defines user stories and priorities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Represents customer needs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5"/>
          <p:cNvSpPr txBox="1"/>
          <p:nvPr>
            <p:ph idx="9" type="subTitle"/>
          </p:nvPr>
        </p:nvSpPr>
        <p:spPr>
          <a:xfrm>
            <a:off x="2593350" y="18479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</a:t>
            </a:r>
            <a:endParaRPr/>
          </a:p>
        </p:txBody>
      </p:sp>
      <p:sp>
        <p:nvSpPr>
          <p:cNvPr id="566" name="Google Shape;566;p55"/>
          <p:cNvSpPr txBox="1"/>
          <p:nvPr>
            <p:ph idx="14" type="body"/>
          </p:nvPr>
        </p:nvSpPr>
        <p:spPr>
          <a:xfrm>
            <a:off x="2603550" y="2420800"/>
            <a:ext cx="17415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Facilitates events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Removes blockers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Ensures team follows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p55"/>
          <p:cNvSpPr txBox="1"/>
          <p:nvPr>
            <p:ph idx="16" type="subTitle"/>
          </p:nvPr>
        </p:nvSpPr>
        <p:spPr>
          <a:xfrm>
            <a:off x="4788450" y="1953783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Team</a:t>
            </a:r>
            <a:endParaRPr/>
          </a:p>
        </p:txBody>
      </p:sp>
      <p:sp>
        <p:nvSpPr>
          <p:cNvPr id="568" name="Google Shape;568;p55"/>
          <p:cNvSpPr txBox="1"/>
          <p:nvPr>
            <p:ph idx="18" type="body"/>
          </p:nvPr>
        </p:nvSpPr>
        <p:spPr>
          <a:xfrm>
            <a:off x="4788450" y="2420800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Builds working software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Tests, integrates, and delivers increments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9" name="Google Shape;569;p55"/>
          <p:cNvSpPr txBox="1"/>
          <p:nvPr>
            <p:ph idx="20" type="subTitle"/>
          </p:nvPr>
        </p:nvSpPr>
        <p:spPr>
          <a:xfrm>
            <a:off x="6983550" y="195378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these roles matter</a:t>
            </a:r>
            <a:endParaRPr/>
          </a:p>
        </p:txBody>
      </p:sp>
      <p:sp>
        <p:nvSpPr>
          <p:cNvPr id="570" name="Google Shape;570;p55"/>
          <p:cNvSpPr txBox="1"/>
          <p:nvPr>
            <p:ph idx="22" type="body"/>
          </p:nvPr>
        </p:nvSpPr>
        <p:spPr>
          <a:xfrm>
            <a:off x="6993750" y="2372700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Clear ownership prevents confusion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Enhances collaboration and transparency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p55"/>
          <p:cNvSpPr txBox="1"/>
          <p:nvPr/>
        </p:nvSpPr>
        <p:spPr>
          <a:xfrm>
            <a:off x="321025" y="196975"/>
            <a:ext cx="5442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Scrum-Agile Roles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576" name="Google Shape;576;p56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577" name="Google Shape;577;p56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578" name="Google Shape;578;p56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9" name="Google Shape;579;p56"/>
          <p:cNvSpPr txBox="1"/>
          <p:nvPr>
            <p:ph type="title"/>
          </p:nvPr>
        </p:nvSpPr>
        <p:spPr>
          <a:xfrm>
            <a:off x="228600" y="564150"/>
            <a:ext cx="3141900" cy="3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High-level vision, backlog creation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Requirements/User Stories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Lightweight, negotiable, testable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 &amp; Development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Performed iteratively in sprints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Continuous; testers and developers collaborate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Review &amp; Retrospective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Inspect product and process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Incremental releases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this works</a:t>
            </a:r>
            <a:br>
              <a:rPr b="1"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●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Faster feedback</a:t>
            </a:r>
            <a:b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●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value delivery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580" name="Google Shape;580;p5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81" name="Google Shape;581;p5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82" name="Google Shape;582;p56"/>
          <p:cNvSpPr txBox="1"/>
          <p:nvPr>
            <p:ph idx="1" type="body"/>
          </p:nvPr>
        </p:nvSpPr>
        <p:spPr>
          <a:xfrm>
            <a:off x="2033375" y="5220950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Explain how a partnership would help make this goal a reality and why it’s worth pursuing together. Think about how your potential partner can contribute.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3" name="Google Shape;583;p56"/>
          <p:cNvSpPr txBox="1"/>
          <p:nvPr>
            <p:ph idx="8" type="subTitle"/>
          </p:nvPr>
        </p:nvSpPr>
        <p:spPr>
          <a:xfrm>
            <a:off x="228600" y="1143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Agile SDLC Phases</a:t>
            </a:r>
            <a:endParaRPr sz="2300"/>
          </a:p>
        </p:txBody>
      </p:sp>
      <p:sp>
        <p:nvSpPr>
          <p:cNvPr id="584" name="Google Shape;584;p5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grpSp>
        <p:nvGrpSpPr>
          <p:cNvPr id="585" name="Google Shape;585;p56"/>
          <p:cNvGrpSpPr/>
          <p:nvPr/>
        </p:nvGrpSpPr>
        <p:grpSpPr>
          <a:xfrm>
            <a:off x="228600" y="4114020"/>
            <a:ext cx="1742332" cy="338705"/>
            <a:chOff x="284700" y="4135245"/>
            <a:chExt cx="1742332" cy="338705"/>
          </a:xfrm>
        </p:grpSpPr>
        <p:sp>
          <p:nvSpPr>
            <p:cNvPr id="586" name="Google Shape;586;p56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Learn more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587" name="Google Shape;587;p56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588" name="Google Shape;588;p56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589" name="Google Shape;589;p56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590" name="Google Shape;590;p56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1" name="Google Shape;591;p56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97" name="Google Shape;597;p5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98" name="Google Shape;598;p57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Overview</a:t>
            </a:r>
            <a:endParaRPr/>
          </a:p>
        </p:txBody>
      </p:sp>
      <p:sp>
        <p:nvSpPr>
          <p:cNvPr id="599" name="Google Shape;599;p57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</a:rPr>
              <a:t>Sequential stages: Requirements → Design → Build → Test → Deploy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</a:rPr>
              <a:t>Limited flexibility once development begins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</a:rPr>
              <a:t>Changes cause delays and rework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</a:rPr>
              <a:t>In SNHU Travel: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 sz="1400">
                <a:solidFill>
                  <a:schemeClr val="dk2"/>
                </a:solidFill>
              </a:rPr>
              <a:t>The pivot to detox/wellness travel would require restarting earlier phases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 sz="1400">
                <a:solidFill>
                  <a:schemeClr val="dk2"/>
                </a:solidFill>
              </a:rPr>
              <a:t>Test cases and code would have been discarded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 sz="1400">
                <a:solidFill>
                  <a:schemeClr val="dk2"/>
                </a:solidFill>
              </a:rPr>
              <a:t>Customer would wait longer for any usable product</a:t>
            </a:r>
            <a:br>
              <a:rPr lang="en" sz="1400">
                <a:solidFill>
                  <a:schemeClr val="dk2"/>
                </a:solidFill>
              </a:rPr>
            </a:b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600" name="Google Shape;600;p5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8"/>
          <p:cNvSpPr/>
          <p:nvPr/>
        </p:nvSpPr>
        <p:spPr>
          <a:xfrm>
            <a:off x="315465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606" name="Google Shape;606;p58"/>
          <p:cNvSpPr/>
          <p:nvPr/>
        </p:nvSpPr>
        <p:spPr>
          <a:xfrm>
            <a:off x="3386711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607" name="Google Shape;607;p58"/>
          <p:cNvGrpSpPr/>
          <p:nvPr/>
        </p:nvGrpSpPr>
        <p:grpSpPr>
          <a:xfrm>
            <a:off x="4558464" y="3950131"/>
            <a:ext cx="282600" cy="282600"/>
            <a:chOff x="4558464" y="3950131"/>
            <a:chExt cx="282600" cy="282600"/>
          </a:xfrm>
        </p:grpSpPr>
        <p:sp>
          <p:nvSpPr>
            <p:cNvPr id="608" name="Google Shape;608;p58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09" name="Google Shape;609;p58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610" name="Google Shape;610;p58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58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2" name="Google Shape;612;p58"/>
          <p:cNvSpPr/>
          <p:nvPr/>
        </p:nvSpPr>
        <p:spPr>
          <a:xfrm>
            <a:off x="608070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58"/>
          <p:cNvSpPr/>
          <p:nvPr/>
        </p:nvSpPr>
        <p:spPr>
          <a:xfrm>
            <a:off x="6309307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614" name="Google Shape;614;p58"/>
          <p:cNvGrpSpPr/>
          <p:nvPr/>
        </p:nvGrpSpPr>
        <p:grpSpPr>
          <a:xfrm>
            <a:off x="7477339" y="3950069"/>
            <a:ext cx="282600" cy="282600"/>
            <a:chOff x="4558464" y="3950131"/>
            <a:chExt cx="282600" cy="282600"/>
          </a:xfrm>
        </p:grpSpPr>
        <p:sp>
          <p:nvSpPr>
            <p:cNvPr id="615" name="Google Shape;615;p58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16" name="Google Shape;616;p58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617" name="Google Shape;617;p58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" name="Google Shape;618;p58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9" name="Google Shape;619;p58"/>
          <p:cNvSpPr txBox="1"/>
          <p:nvPr>
            <p:ph type="title"/>
          </p:nvPr>
        </p:nvSpPr>
        <p:spPr>
          <a:xfrm>
            <a:off x="3386700" y="64613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When to choose Agile: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0" name="Google Shape;620;p58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Requirements may change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Stakeholder feedback is ongoing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Product needs iterative updates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Team prioritizes adaptability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1" name="Google Shape;621;p58"/>
          <p:cNvSpPr txBox="1"/>
          <p:nvPr>
            <p:ph idx="3" type="title"/>
          </p:nvPr>
        </p:nvSpPr>
        <p:spPr>
          <a:xfrm>
            <a:off x="6309300" y="188896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Why Agile fits SNHU Travel: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2" name="Google Shape;622;p58"/>
          <p:cNvSpPr txBox="1"/>
          <p:nvPr>
            <p:ph idx="5" type="subTitle"/>
          </p:nvPr>
        </p:nvSpPr>
        <p:spPr>
          <a:xfrm>
            <a:off x="6309300" y="2352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Requirements changed mid-development</a:t>
            </a:r>
            <a:b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Frequent collaboration was needed</a:t>
            </a:r>
            <a:b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Incremental updates accelerated delivery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3" name="Google Shape;623;p58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Urbanist Medium"/>
                <a:ea typeface="Urbanist Medium"/>
                <a:cs typeface="Urbanist Medium"/>
                <a:sym typeface="Urbanist Medium"/>
              </a:rPr>
              <a:t>Choosing Between Waterfall and Agile</a:t>
            </a:r>
            <a:endParaRPr sz="240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4" name="Google Shape;624;p58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25" name="Google Shape;625;p58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26" name="Google Shape;626;p58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27" name="Google Shape;627;p58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28" name="Google Shape;628;p58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29" name="Google Shape;629;p58"/>
          <p:cNvSpPr txBox="1"/>
          <p:nvPr/>
        </p:nvSpPr>
        <p:spPr>
          <a:xfrm>
            <a:off x="3254550" y="2035163"/>
            <a:ext cx="2152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When to choose Waterfall: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58"/>
          <p:cNvSpPr txBox="1"/>
          <p:nvPr/>
        </p:nvSpPr>
        <p:spPr>
          <a:xfrm>
            <a:off x="3254550" y="2611850"/>
            <a:ext cx="2541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Requirements stable and documented</a:t>
            </a:r>
            <a:b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Compliance-based environments</a:t>
            </a:r>
            <a:b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Projects with fixed scope and predictable outcomes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9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References</a:t>
            </a:r>
            <a:endParaRPr sz="1400"/>
          </a:p>
        </p:txBody>
      </p:sp>
      <p:pic>
        <p:nvPicPr>
          <p:cNvPr descr="A rugged brown and white texture, like hundreds of tiny threads." id="636" name="Google Shape;636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90" r="18490" t="0"/>
          <a:stretch/>
        </p:blipFill>
        <p:spPr>
          <a:xfrm>
            <a:off x="246150" y="237650"/>
            <a:ext cx="4196398" cy="4438199"/>
          </a:xfrm>
          <a:prstGeom prst="rect">
            <a:avLst/>
          </a:prstGeom>
        </p:spPr>
      </p:pic>
      <p:sp>
        <p:nvSpPr>
          <p:cNvPr id="637" name="Google Shape;637;p59"/>
          <p:cNvSpPr txBox="1"/>
          <p:nvPr>
            <p:ph idx="1" type="body"/>
          </p:nvPr>
        </p:nvSpPr>
        <p:spPr>
          <a:xfrm>
            <a:off x="4618950" y="7170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Beck, K., et al. (2001). </a:t>
            </a:r>
            <a:r>
              <a:rPr i="1" lang="en" sz="1100"/>
              <a:t>Manifesto for Agile Software Development</a:t>
            </a:r>
            <a:r>
              <a:rPr lang="en" sz="1100"/>
              <a:t>. Agile Alliance.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Cobb, C. G. (2015). </a:t>
            </a:r>
            <a:r>
              <a:rPr i="1" lang="en" sz="1100"/>
              <a:t>The Project Manager’s Guide to Mastering Agile</a:t>
            </a:r>
            <a:r>
              <a:rPr lang="en" sz="1100"/>
              <a:t>. Wiley.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Sliger, M. (2012). </a:t>
            </a:r>
            <a:r>
              <a:rPr i="1" lang="en" sz="1100"/>
              <a:t>Agile estimation techniques</a:t>
            </a:r>
            <a:r>
              <a:rPr lang="en" sz="1100"/>
              <a:t>. PMI Global Congress.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VersionOne. (2022). </a:t>
            </a:r>
            <a:r>
              <a:rPr i="1" lang="en" sz="1100"/>
              <a:t>State of Agile Report</a:t>
            </a:r>
            <a:r>
              <a:rPr lang="en" sz="1100"/>
              <a:t>.</a:t>
            </a:r>
            <a:endParaRPr/>
          </a:p>
        </p:txBody>
      </p:sp>
      <p:sp>
        <p:nvSpPr>
          <p:cNvPr id="638" name="Google Shape;638;p59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9" name="Google Shape;639;p59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40" name="Google Shape;640;p59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46" name="Google Shape;646;p6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47" name="Google Shape;647;p60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8" name="Google Shape;648;p60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